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4" r:id="rId6"/>
    <p:sldId id="400" r:id="rId7"/>
    <p:sldId id="385" r:id="rId8"/>
    <p:sldId id="386" r:id="rId9"/>
    <p:sldId id="387" r:id="rId10"/>
    <p:sldId id="388" r:id="rId11"/>
    <p:sldId id="401" r:id="rId12"/>
    <p:sldId id="389" r:id="rId13"/>
    <p:sldId id="390" r:id="rId14"/>
    <p:sldId id="391" r:id="rId15"/>
    <p:sldId id="392" r:id="rId16"/>
    <p:sldId id="393" r:id="rId17"/>
    <p:sldId id="394" r:id="rId18"/>
    <p:sldId id="398" r:id="rId19"/>
    <p:sldId id="395"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91" d="100"/>
          <a:sy n="91" d="100"/>
        </p:scale>
        <p:origin x="1325"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7A3D7D-4DD0-4519-9573-665089B66871}" type="slidenum">
              <a:rPr lang="en-US" smtClean="0"/>
              <a:pPr/>
              <a:t>1</a:t>
            </a:fld>
            <a:endParaRPr lang="en-US"/>
          </a:p>
        </p:txBody>
      </p:sp>
    </p:spTree>
    <p:extLst>
      <p:ext uri="{BB962C8B-B14F-4D97-AF65-F5344CB8AC3E}">
        <p14:creationId xmlns:p14="http://schemas.microsoft.com/office/powerpoint/2010/main" val="2892150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hyperlink" Target="https://ieeexplore.ieee.org/stamp/stamp.jsp?tp=&amp;arnumber=10691910&amp;isnumber=10691903" TargetMode="External"/><Relationship Id="rId4" Type="http://schemas.openxmlformats.org/officeDocument/2006/relationships/hyperlink" Target="https://ieeexplore.ieee.org/stamp/stamp.jsp?tp=&amp;arnumber=10047781&amp;isnumber=10046669"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bmchealthservres.biomedcentral.com/articles/10.1186/s12913-023-09513-5" TargetMode="External"/><Relationship Id="rId3" Type="http://schemas.openxmlformats.org/officeDocument/2006/relationships/notesSlide" Target="../notesSlides/notesSlide17.xml"/><Relationship Id="rId7" Type="http://schemas.openxmlformats.org/officeDocument/2006/relationships/hyperlink" Target="https://www.wineme.uni-siegen.de/wp-content/uploads/2020/05/Exploring-Human-Robot-Interaction-with-the-Elderly_-Results-from-a-Ten-Week-Case-Study-in-a-Care-Home.pdf" TargetMode="Externa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hyperlink" Target="https://www.mdpi.com/2227-9032/11/9/1286" TargetMode="External"/><Relationship Id="rId5" Type="http://schemas.openxmlformats.org/officeDocument/2006/relationships/hyperlink" Target="https://link.springer.com/article/10.1007/s12369-021-00816-3" TargetMode="External"/><Relationship Id="rId4" Type="http://schemas.openxmlformats.org/officeDocument/2006/relationships/hyperlink" Target="https://papers.ssrn.com/sol3/papers.cfm?abstract_id=4651584"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5566196" cy="1631216"/>
            </a:xfrm>
            <a:prstGeom prst="rect">
              <a:avLst/>
            </a:prstGeom>
            <a:noFill/>
          </p:spPr>
          <p:txBody>
            <a:bodyPr wrap="square" rtlCol="0">
              <a:spAutoFit/>
            </a:bodyPr>
            <a:lstStyle/>
            <a:p>
              <a:r>
                <a:rPr lang="en-US" sz="2000" b="1" dirty="0"/>
                <a:t>Your Register No : 220701031</a:t>
              </a:r>
            </a:p>
            <a:p>
              <a:r>
                <a:rPr lang="en-US" sz="2000" b="1" dirty="0"/>
                <a:t>Name : ASHMITA R</a:t>
              </a:r>
            </a:p>
            <a:p>
              <a:r>
                <a:rPr lang="en-US" sz="2000" b="1" dirty="0"/>
                <a:t>Guide Name: Mrs. J. JINU SOPHIA</a:t>
              </a:r>
            </a:p>
            <a:p>
              <a:r>
                <a:rPr lang="en-US" sz="2000" b="1" dirty="0"/>
                <a:t>Designation :Assistant Professor(SG)</a:t>
              </a:r>
            </a:p>
            <a:p>
              <a:r>
                <a:rPr lang="en-US" sz="2000" b="1" dirty="0"/>
                <a:t>Department :Computer Science &amp; Engineering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323439"/>
              </a:xfrm>
              <a:prstGeom prst="rect">
                <a:avLst/>
              </a:prstGeom>
              <a:noFill/>
            </p:spPr>
            <p:txBody>
              <a:bodyPr wrap="square" rtlCol="0">
                <a:spAutoFit/>
              </a:bodyPr>
              <a:lstStyle/>
              <a:p>
                <a:r>
                  <a:rPr lang="en-US" sz="4000" b="1" dirty="0">
                    <a:solidFill>
                      <a:schemeClr val="bg1"/>
                    </a:solidFill>
                    <a:ea typeface="Open Sans Bold" panose="020B0806030504020204" pitchFamily="34" charset="0"/>
                    <a:cs typeface="Open Sans Bold" panose="020B0806030504020204" pitchFamily="34" charset="0"/>
                  </a:rPr>
                  <a:t>ELDERLY CARE REMINDER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4" name="TextBox 3">
            <a:extLst>
              <a:ext uri="{FF2B5EF4-FFF2-40B4-BE49-F238E27FC236}">
                <a16:creationId xmlns:a16="http://schemas.microsoft.com/office/drawing/2014/main" id="{D6848431-DE19-FF20-7508-B1A2E56FD3AE}"/>
              </a:ext>
            </a:extLst>
          </p:cNvPr>
          <p:cNvSpPr txBox="1"/>
          <p:nvPr/>
        </p:nvSpPr>
        <p:spPr>
          <a:xfrm>
            <a:off x="359532" y="1088740"/>
            <a:ext cx="8388932" cy="4708981"/>
          </a:xfrm>
          <a:prstGeom prst="rect">
            <a:avLst/>
          </a:prstGeom>
          <a:noFill/>
        </p:spPr>
        <p:txBody>
          <a:bodyPr wrap="square" rtlCol="0">
            <a:spAutoFit/>
          </a:bodyPr>
          <a:lstStyle/>
          <a:p>
            <a:pPr algn="just"/>
            <a:r>
              <a:rPr lang="en-US" sz="2000" dirty="0"/>
              <a:t>The Elderly Care Reminder Bot is a robust automation solution designed to assist caregivers in managing reminders for elderly individuals, ensuring timely notifications for medications and doctor appointments. Built using UiPath, this bot utilizes an Excel sheet to store critical information such as scheduled times for tasks, the specific task details, and caregiver email addresses. The bot is programmed to extract the current time and compare it with the scheduled time. When the two match, an SMTP activity is triggered to send an email notification to the caregiver. In scenarios where the current time does not align with the schedule, the bot employs a delay activity, ensuring the system remains efficient and avoids unnecessary processing until the appropriate time is reached. This structured and reliable approach provides caregivers with peace of mind, reducing the risk of missed medications or appointments and contributing to the well-being of the elderly. The bot's ability to seamlessly integrate with Excel and automate reminders enhances caregiving efficiency, making it an indispensable tool for elderly care management.</a:t>
            </a:r>
            <a:endParaRPr lang="en-IN" sz="2000"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dirty="0"/>
              <a:t>The need for an Elderly Care Reminder Bot arises from the increasing challenges faced by the elderly in managing their daily routines and health requirements due to age-related cognitive decline, memory lapses, and physical limitations. With many seniors living independently or with limited access to caregivers, there is a growing demand for a reliable and accessible solution to ensure timely medication intake, adherence to medical appointments, and maintenance of a healthy lifestyle. The proposed system addresses these challenges by providing personalized, automated reminders and real-time support, reducing dependency on caregivers while enhancing safety, independence, and overall quality of life for the elderly</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4" name="Rectangle 1">
            <a:extLst>
              <a:ext uri="{FF2B5EF4-FFF2-40B4-BE49-F238E27FC236}">
                <a16:creationId xmlns:a16="http://schemas.microsoft.com/office/drawing/2014/main" id="{7620818B-88E7-9792-CABC-E4C2AF0B759A}"/>
              </a:ext>
            </a:extLst>
          </p:cNvPr>
          <p:cNvSpPr>
            <a:spLocks noGrp="1" noChangeArrowheads="1"/>
          </p:cNvSpPr>
          <p:nvPr>
            <p:ph idx="1"/>
          </p:nvPr>
        </p:nvSpPr>
        <p:spPr bwMode="auto">
          <a:xfrm>
            <a:off x="697401" y="1303109"/>
            <a:ext cx="787104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Timely Reminders:</a:t>
            </a:r>
            <a:r>
              <a:rPr kumimoji="0" lang="en-US" altLang="en-US" sz="2000" b="0" i="0" u="none" strike="noStrike" cap="none" normalizeH="0" baseline="0" dirty="0">
                <a:ln>
                  <a:noFill/>
                </a:ln>
                <a:solidFill>
                  <a:schemeClr val="tx1"/>
                </a:solidFill>
                <a:effectLst/>
                <a:latin typeface="Arial" panose="020B0604020202020204" pitchFamily="34" charset="0"/>
              </a:rPr>
              <a:t> Ensures adherence to medication, appointments, and daily routines.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Independence:</a:t>
            </a:r>
            <a:r>
              <a:rPr kumimoji="0" lang="en-US" altLang="en-US" sz="2000" b="0" i="0" u="none" strike="noStrike" cap="none" normalizeH="0" baseline="0" dirty="0">
                <a:ln>
                  <a:noFill/>
                </a:ln>
                <a:solidFill>
                  <a:schemeClr val="tx1"/>
                </a:solidFill>
                <a:effectLst/>
                <a:latin typeface="Arial" panose="020B0604020202020204" pitchFamily="34" charset="0"/>
              </a:rPr>
              <a:t> Promotes self-reliance by reducing dependency on caregivers.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User-Friendly:</a:t>
            </a:r>
            <a:r>
              <a:rPr kumimoji="0" lang="en-US" altLang="en-US" sz="2000" b="0" i="0" u="none" strike="noStrike" cap="none" normalizeH="0" baseline="0" dirty="0">
                <a:ln>
                  <a:noFill/>
                </a:ln>
                <a:solidFill>
                  <a:schemeClr val="tx1"/>
                </a:solidFill>
                <a:effectLst/>
                <a:latin typeface="Arial" panose="020B0604020202020204" pitchFamily="34" charset="0"/>
              </a:rPr>
              <a:t> Accessible via voice, text, or app for ease of use.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Personalization:</a:t>
            </a:r>
            <a:r>
              <a:rPr kumimoji="0" lang="en-US" altLang="en-US" sz="2000" b="0" i="0" u="none" strike="noStrike" cap="none" normalizeH="0" baseline="0" dirty="0">
                <a:ln>
                  <a:noFill/>
                </a:ln>
                <a:solidFill>
                  <a:schemeClr val="tx1"/>
                </a:solidFill>
                <a:effectLst/>
                <a:latin typeface="Arial" panose="020B0604020202020204" pitchFamily="34" charset="0"/>
              </a:rPr>
              <a:t> Tailors reminders based on individual schedules and needs.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Emergency Alerts:</a:t>
            </a:r>
            <a:r>
              <a:rPr kumimoji="0" lang="en-US" altLang="en-US" sz="2000" b="0" i="0" u="none" strike="noStrike" cap="none" normalizeH="0" baseline="0" dirty="0">
                <a:ln>
                  <a:noFill/>
                </a:ln>
                <a:solidFill>
                  <a:schemeClr val="tx1"/>
                </a:solidFill>
                <a:effectLst/>
                <a:latin typeface="Arial" panose="020B0604020202020204" pitchFamily="34" charset="0"/>
              </a:rPr>
              <a:t> Notifies family or caregivers in case of missed tasks or emergencies.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Health Monitoring:</a:t>
            </a:r>
            <a:r>
              <a:rPr kumimoji="0" lang="en-US" altLang="en-US" sz="2000" b="0" i="0" u="none" strike="noStrike" cap="none" normalizeH="0" baseline="0" dirty="0">
                <a:ln>
                  <a:noFill/>
                </a:ln>
                <a:solidFill>
                  <a:schemeClr val="tx1"/>
                </a:solidFill>
                <a:effectLst/>
                <a:latin typeface="Arial" panose="020B0604020202020204" pitchFamily="34" charset="0"/>
              </a:rPr>
              <a:t> Encourages adherence to healthy habits like hydration and exercise.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Peace of Mind:</a:t>
            </a:r>
            <a:r>
              <a:rPr kumimoji="0" lang="en-US" altLang="en-US" sz="2000" b="0" i="0" u="none" strike="noStrike" cap="none" normalizeH="0" baseline="0" dirty="0">
                <a:ln>
                  <a:noFill/>
                </a:ln>
                <a:solidFill>
                  <a:schemeClr val="tx1"/>
                </a:solidFill>
                <a:effectLst/>
                <a:latin typeface="Arial" panose="020B0604020202020204" pitchFamily="34" charset="0"/>
              </a:rPr>
              <a:t> Provides reassurance to both elderly individuals and their families.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Cost-Effective:</a:t>
            </a:r>
            <a:r>
              <a:rPr kumimoji="0" lang="en-US" altLang="en-US" sz="2000" b="0" i="0" u="none" strike="noStrike" cap="none" normalizeH="0" baseline="0" dirty="0">
                <a:ln>
                  <a:noFill/>
                </a:ln>
                <a:solidFill>
                  <a:schemeClr val="tx1"/>
                </a:solidFill>
                <a:effectLst/>
                <a:latin typeface="Arial" panose="020B0604020202020204" pitchFamily="34" charset="0"/>
              </a:rPr>
              <a:t> Reduces the need for constant caregiver supervision. </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r>
              <a:rPr lang="en-US" u="sng" dirty="0"/>
              <a:t>Paper 1 </a:t>
            </a:r>
            <a:r>
              <a:rPr lang="en-US" dirty="0"/>
              <a:t>: "A Smart Reminder System for Elderly Health Management”</a:t>
            </a:r>
          </a:p>
          <a:p>
            <a:r>
              <a:rPr lang="en-US" u="sng" dirty="0"/>
              <a:t>Advantages</a:t>
            </a:r>
            <a:r>
              <a:rPr lang="en-US" dirty="0"/>
              <a:t>: </a:t>
            </a:r>
          </a:p>
          <a:p>
            <a:pPr marL="0" indent="0">
              <a:buNone/>
            </a:pPr>
            <a:r>
              <a:rPr lang="en-US" dirty="0"/>
              <a:t>                Automates routine health reminders for medication and </a:t>
            </a:r>
            <a:r>
              <a:rPr lang="en-US" dirty="0" err="1"/>
              <a:t>appointments.Easy</a:t>
            </a:r>
            <a:r>
              <a:rPr lang="en-US" dirty="0"/>
              <a:t> integration with IoT devices like smartwatches and home </a:t>
            </a:r>
            <a:r>
              <a:rPr lang="en-US" dirty="0" err="1"/>
              <a:t>assistants.Enhances</a:t>
            </a:r>
            <a:r>
              <a:rPr lang="en-US" dirty="0"/>
              <a:t> communication between elderly individuals and caregivers.</a:t>
            </a:r>
          </a:p>
          <a:p>
            <a:r>
              <a:rPr lang="en-US" u="sng" dirty="0"/>
              <a:t>Disadvantages</a:t>
            </a:r>
            <a:r>
              <a:rPr lang="en-US" dirty="0"/>
              <a:t>:</a:t>
            </a:r>
          </a:p>
          <a:p>
            <a:pPr marL="0" indent="0">
              <a:buNone/>
            </a:pPr>
            <a:r>
              <a:rPr lang="en-US" dirty="0"/>
              <a:t>         Dependence on stable internet </a:t>
            </a:r>
            <a:r>
              <a:rPr lang="en-US" dirty="0" err="1"/>
              <a:t>connectivity.Limited</a:t>
            </a:r>
            <a:r>
              <a:rPr lang="en-US" dirty="0"/>
              <a:t> accessibility for those unfamiliar with technology.</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C7A66-FC3F-A19A-4B9A-B558430AC44D}"/>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8AD458C4-C181-F84F-2819-C5D6778F2E53}"/>
              </a:ext>
            </a:extLst>
          </p:cNvPr>
          <p:cNvSpPr>
            <a:spLocks noGrp="1"/>
          </p:cNvSpPr>
          <p:nvPr>
            <p:ph idx="1"/>
          </p:nvPr>
        </p:nvSpPr>
        <p:spPr/>
        <p:txBody>
          <a:bodyPr>
            <a:normAutofit lnSpcReduction="10000"/>
          </a:bodyPr>
          <a:lstStyle/>
          <a:p>
            <a:r>
              <a:rPr lang="en-US" u="sng" dirty="0"/>
              <a:t>Paper-2 : </a:t>
            </a:r>
            <a:r>
              <a:rPr lang="en-US" dirty="0"/>
              <a:t>“</a:t>
            </a:r>
            <a:r>
              <a:rPr lang="en-US" i="0" dirty="0">
                <a:solidFill>
                  <a:srgbClr val="333333"/>
                </a:solidFill>
                <a:effectLst/>
                <a:latin typeface="HelveticaNeue Regular"/>
              </a:rPr>
              <a:t>IoT- Based Real- Time Medicine Reminder and Dispenser for Elderly Patients”</a:t>
            </a:r>
          </a:p>
          <a:p>
            <a:r>
              <a:rPr lang="en-US" u="sng" dirty="0"/>
              <a:t>Advantages:</a:t>
            </a:r>
          </a:p>
          <a:p>
            <a:pPr marL="0" indent="0">
              <a:buNone/>
            </a:pPr>
            <a:r>
              <a:rPr lang="en-US" b="1" dirty="0"/>
              <a:t>       </a:t>
            </a:r>
            <a:r>
              <a:rPr lang="en-US" dirty="0"/>
              <a:t>Multimodal Reminders: Uses speaker, display, dispenser, and mobile notifications to remind users.</a:t>
            </a:r>
          </a:p>
          <a:p>
            <a:pPr marL="0" indent="0">
              <a:buNone/>
            </a:pPr>
            <a:r>
              <a:rPr lang="en-US" dirty="0"/>
              <a:t>Automatic Dispensing: Ensures correct medication intake by dispensing the right dose.</a:t>
            </a:r>
          </a:p>
          <a:p>
            <a:r>
              <a:rPr lang="en-US" u="sng" dirty="0"/>
              <a:t>Disadvantages:</a:t>
            </a:r>
          </a:p>
          <a:p>
            <a:pPr marL="0" indent="0">
              <a:buNone/>
            </a:pPr>
            <a:r>
              <a:rPr lang="en-US" dirty="0"/>
              <a:t>        Technology Dependency: Elderly users may struggle with setup or troubleshooting.</a:t>
            </a:r>
          </a:p>
          <a:p>
            <a:pPr marL="0" indent="0">
              <a:buNone/>
            </a:pPr>
            <a:r>
              <a:rPr lang="en-US" dirty="0"/>
              <a:t>Connectivity Issues: Relies on stable internet, which may cause disruptions.</a:t>
            </a:r>
          </a:p>
          <a:p>
            <a:endParaRPr lang="en-US" i="0" dirty="0">
              <a:solidFill>
                <a:srgbClr val="333333"/>
              </a:solidFill>
              <a:effectLst/>
              <a:latin typeface="HelveticaNeue Regular"/>
            </a:endParaRPr>
          </a:p>
          <a:p>
            <a:endParaRPr lang="en-IN" dirty="0"/>
          </a:p>
        </p:txBody>
      </p:sp>
    </p:spTree>
    <p:extLst>
      <p:ext uri="{BB962C8B-B14F-4D97-AF65-F5344CB8AC3E}">
        <p14:creationId xmlns:p14="http://schemas.microsoft.com/office/powerpoint/2010/main" val="3689981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marL="0" indent="0">
              <a:buNone/>
            </a:pPr>
            <a:r>
              <a:rPr lang="en-US" dirty="0"/>
              <a:t>The main objective of the Elderly Care Reminder Bot is to provide timely, personalized reminders to elderly individuals for their daily routines, including medication, appointments, meals, and exercise, to promote independence, improve health management, and ensure safety. The bot aims to enhance the quality of life by reducing the reliance on caregivers and providing peace of mind to both seniors and their families.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11" name="Picture 10">
            <a:extLst>
              <a:ext uri="{FF2B5EF4-FFF2-40B4-BE49-F238E27FC236}">
                <a16:creationId xmlns:a16="http://schemas.microsoft.com/office/drawing/2014/main" id="{25D220FD-849F-36ED-B1CB-D1AB367A7CD8}"/>
              </a:ext>
            </a:extLst>
          </p:cNvPr>
          <p:cNvPicPr>
            <a:picLocks noChangeAspect="1"/>
          </p:cNvPicPr>
          <p:nvPr/>
        </p:nvPicPr>
        <p:blipFill>
          <a:blip r:embed="rId4"/>
          <a:stretch>
            <a:fillRect/>
          </a:stretch>
        </p:blipFill>
        <p:spPr>
          <a:xfrm>
            <a:off x="2000250" y="1160748"/>
            <a:ext cx="5143500" cy="5004556"/>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r>
              <a:rPr lang="en-IN" b="1" u="sng" dirty="0"/>
              <a:t>Hardware:</a:t>
            </a:r>
          </a:p>
          <a:p>
            <a:pPr marL="0" indent="0">
              <a:buNone/>
            </a:pPr>
            <a:r>
              <a:rPr lang="en-IN" b="1" dirty="0"/>
              <a:t>Processor:</a:t>
            </a:r>
            <a:r>
              <a:rPr lang="en-IN" dirty="0"/>
              <a:t> Dual-Core or higher (Intel i3/AMD equivalent).</a:t>
            </a:r>
          </a:p>
          <a:p>
            <a:pPr marL="0" indent="0">
              <a:buNone/>
            </a:pPr>
            <a:r>
              <a:rPr lang="en-IN" b="1" dirty="0"/>
              <a:t>RAM:</a:t>
            </a:r>
            <a:r>
              <a:rPr lang="en-IN" dirty="0"/>
              <a:t> 4 GB (8 GB recommended).</a:t>
            </a:r>
          </a:p>
          <a:p>
            <a:pPr marL="0" indent="0">
              <a:buNone/>
            </a:pPr>
            <a:r>
              <a:rPr lang="en-IN" b="1" dirty="0"/>
              <a:t>Storage:</a:t>
            </a:r>
            <a:r>
              <a:rPr lang="en-IN" dirty="0"/>
              <a:t> 100 GB free space (SSD preferred).</a:t>
            </a:r>
          </a:p>
          <a:p>
            <a:pPr marL="0" indent="0">
              <a:buNone/>
            </a:pPr>
            <a:r>
              <a:rPr lang="en-IN" b="1" dirty="0"/>
              <a:t>Network:</a:t>
            </a:r>
            <a:r>
              <a:rPr lang="en-IN" dirty="0"/>
              <a:t> Stable internet connection (5 Mbps or higher).</a:t>
            </a:r>
          </a:p>
          <a:p>
            <a:r>
              <a:rPr lang="en-IN" b="1" u="sng" dirty="0"/>
              <a:t>Software:</a:t>
            </a:r>
          </a:p>
          <a:p>
            <a:pPr marL="0" indent="0">
              <a:buNone/>
            </a:pPr>
            <a:r>
              <a:rPr lang="en-IN" b="1" dirty="0"/>
              <a:t>OS:</a:t>
            </a:r>
            <a:r>
              <a:rPr lang="en-IN" dirty="0"/>
              <a:t> Windows 10/11, macOS, or Linux.</a:t>
            </a:r>
          </a:p>
          <a:p>
            <a:pPr marL="0" indent="0">
              <a:buNone/>
            </a:pPr>
            <a:r>
              <a:rPr lang="en-IN" b="1" dirty="0"/>
              <a:t>Tools:</a:t>
            </a:r>
            <a:r>
              <a:rPr lang="en-IN" dirty="0"/>
              <a:t> UiPath Studio, UiPath Robot, UiPath Orchestrator.</a:t>
            </a:r>
          </a:p>
          <a:p>
            <a:pPr marL="0" indent="0">
              <a:buNone/>
            </a:pPr>
            <a:r>
              <a:rPr lang="en-IN" b="1" dirty="0"/>
              <a:t>Data Source:</a:t>
            </a:r>
            <a:r>
              <a:rPr lang="en-IN" dirty="0"/>
              <a:t> Excel for schedules and reminders.</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Description-Module 1</a:t>
            </a:r>
            <a:endParaRPr lang="en-IN" dirty="0">
              <a:latin typeface="+mj-lt"/>
            </a:endParaRPr>
          </a:p>
        </p:txBody>
      </p:sp>
      <p:pic>
        <p:nvPicPr>
          <p:cNvPr id="7" name="Content Placeholder 6">
            <a:extLst>
              <a:ext uri="{FF2B5EF4-FFF2-40B4-BE49-F238E27FC236}">
                <a16:creationId xmlns:a16="http://schemas.microsoft.com/office/drawing/2014/main" id="{782D1845-F87D-95E2-F842-C008D21F2F9D}"/>
              </a:ext>
            </a:extLst>
          </p:cNvPr>
          <p:cNvPicPr>
            <a:picLocks noGrp="1" noChangeAspect="1"/>
          </p:cNvPicPr>
          <p:nvPr>
            <p:ph idx="1"/>
          </p:nvPr>
        </p:nvPicPr>
        <p:blipFill>
          <a:blip r:embed="rId4"/>
          <a:stretch>
            <a:fillRect/>
          </a:stretch>
        </p:blipFill>
        <p:spPr>
          <a:xfrm>
            <a:off x="2486025" y="1566862"/>
            <a:ext cx="4171950" cy="4181475"/>
          </a:xfr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8B25-8F72-AE8C-272F-5F9C067E9F99}"/>
              </a:ext>
            </a:extLst>
          </p:cNvPr>
          <p:cNvSpPr>
            <a:spLocks noGrp="1"/>
          </p:cNvSpPr>
          <p:nvPr>
            <p:ph type="title"/>
          </p:nvPr>
        </p:nvSpPr>
        <p:spPr/>
        <p:txBody>
          <a:bodyPr/>
          <a:lstStyle/>
          <a:p>
            <a:r>
              <a:rPr lang="en-US" dirty="0"/>
              <a:t>Functional Description-Module 2</a:t>
            </a:r>
            <a:endParaRPr lang="en-IN" dirty="0"/>
          </a:p>
        </p:txBody>
      </p:sp>
      <p:pic>
        <p:nvPicPr>
          <p:cNvPr id="5" name="Content Placeholder 4">
            <a:extLst>
              <a:ext uri="{FF2B5EF4-FFF2-40B4-BE49-F238E27FC236}">
                <a16:creationId xmlns:a16="http://schemas.microsoft.com/office/drawing/2014/main" id="{BB6A7C17-9E08-964A-5D44-1E6F98C74745}"/>
              </a:ext>
            </a:extLst>
          </p:cNvPr>
          <p:cNvPicPr>
            <a:picLocks noGrp="1" noChangeAspect="1"/>
          </p:cNvPicPr>
          <p:nvPr>
            <p:ph idx="1"/>
          </p:nvPr>
        </p:nvPicPr>
        <p:blipFill>
          <a:blip r:embed="rId2"/>
          <a:stretch>
            <a:fillRect/>
          </a:stretch>
        </p:blipFill>
        <p:spPr>
          <a:xfrm>
            <a:off x="1971675" y="1481137"/>
            <a:ext cx="5200650" cy="4352925"/>
          </a:xfrm>
        </p:spPr>
      </p:pic>
    </p:spTree>
    <p:extLst>
      <p:ext uri="{BB962C8B-B14F-4D97-AF65-F5344CB8AC3E}">
        <p14:creationId xmlns:p14="http://schemas.microsoft.com/office/powerpoint/2010/main" val="3623318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br>
              <a:rPr lang="en-US" dirty="0"/>
            </a:br>
            <a:br>
              <a:rPr lang="en-US" dirty="0"/>
            </a:br>
            <a:endParaRPr lang="en-US" dirty="0"/>
          </a:p>
        </p:txBody>
      </p:sp>
      <p:pic>
        <p:nvPicPr>
          <p:cNvPr id="1026" name="Picture 2">
            <a:extLst>
              <a:ext uri="{FF2B5EF4-FFF2-40B4-BE49-F238E27FC236}">
                <a16:creationId xmlns:a16="http://schemas.microsoft.com/office/drawing/2014/main" id="{BBC0A6E9-13E4-4902-486D-579853DD13A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1988" y="990600"/>
            <a:ext cx="7820025" cy="501491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4" name="Rectangle 1">
            <a:extLst>
              <a:ext uri="{FF2B5EF4-FFF2-40B4-BE49-F238E27FC236}">
                <a16:creationId xmlns:a16="http://schemas.microsoft.com/office/drawing/2014/main" id="{A017D048-D11A-B366-AB4A-0540A6F6DE7E}"/>
              </a:ext>
            </a:extLst>
          </p:cNvPr>
          <p:cNvSpPr>
            <a:spLocks noGrp="1" noChangeArrowheads="1"/>
          </p:cNvSpPr>
          <p:nvPr>
            <p:ph idx="1"/>
          </p:nvPr>
        </p:nvSpPr>
        <p:spPr bwMode="auto">
          <a:xfrm>
            <a:off x="190500" y="2072550"/>
            <a:ext cx="527670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Start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Open Excel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Read Data into </a:t>
            </a:r>
            <a:r>
              <a:rPr kumimoji="0" lang="en-US" altLang="en-US" sz="2000" b="0" i="0" u="none" strike="noStrike" cap="none" normalizeH="0" baseline="0" dirty="0" err="1">
                <a:ln>
                  <a:noFill/>
                </a:ln>
                <a:solidFill>
                  <a:schemeClr val="tx1"/>
                </a:solidFill>
                <a:effectLst/>
                <a:latin typeface="Arial" panose="020B0604020202020204" pitchFamily="34" charset="0"/>
              </a:rPr>
              <a:t>DataTable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Loop Through Each Row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Extract Task, Time, and Email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Check Current Time Against Reminder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Send Email or Delay and Then Send Email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Repeat for All Rows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End Process </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4" name="Content Placeholder 3">
            <a:extLst>
              <a:ext uri="{FF2B5EF4-FFF2-40B4-BE49-F238E27FC236}">
                <a16:creationId xmlns:a16="http://schemas.microsoft.com/office/drawing/2014/main" id="{487D3B81-5050-F085-33DB-14D27C062E06}"/>
              </a:ext>
            </a:extLst>
          </p:cNvPr>
          <p:cNvPicPr>
            <a:picLocks noGrp="1" noChangeAspect="1"/>
          </p:cNvPicPr>
          <p:nvPr>
            <p:ph idx="1"/>
          </p:nvPr>
        </p:nvPicPr>
        <p:blipFill>
          <a:blip r:embed="rId4"/>
          <a:stretch>
            <a:fillRect/>
          </a:stretch>
        </p:blipFill>
        <p:spPr>
          <a:xfrm>
            <a:off x="457200" y="2228850"/>
            <a:ext cx="8229600" cy="2857500"/>
          </a:xfr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endParaRPr lang="en-US" dirty="0"/>
          </a:p>
          <a:p>
            <a:r>
              <a:rPr lang="en-US" dirty="0"/>
              <a:t>Test Description: A brief description of what is being tested (e.g., Verify that a reminder is set correctly at 10:00 AM).</a:t>
            </a:r>
          </a:p>
          <a:p>
            <a:r>
              <a:rPr lang="en-US" dirty="0"/>
              <a:t>Input: The data or action being tested (e.g., User sets a reminder for 10:00 AM for taking medication).</a:t>
            </a:r>
          </a:p>
          <a:p>
            <a:r>
              <a:rPr lang="en-US" dirty="0"/>
              <a:t>Expected Output: What should happen if the system works correctly (e.g., A reminder notification should be sent at 10:00 AM).</a:t>
            </a:r>
          </a:p>
          <a:p>
            <a:r>
              <a:rPr lang="en-US" dirty="0"/>
              <a:t>Actual Output: What actually happens during the test.</a:t>
            </a:r>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endParaRPr lang="en-US" dirty="0"/>
          </a:p>
          <a:p>
            <a:r>
              <a:rPr lang="en-US" dirty="0"/>
              <a:t>In conclusion, the </a:t>
            </a:r>
            <a:r>
              <a:rPr lang="en-US" b="1" dirty="0"/>
              <a:t>Elderly Care Reminder Bot</a:t>
            </a:r>
            <a:r>
              <a:rPr lang="en-US" dirty="0"/>
              <a:t> effectively addresses the needs of elderly individuals by providing an easy-to-use system for managing important reminders. With its simple interface, real-time notifications, and secure handling of user data, the bot helps users stay on track with medication, appointments, and daily activities. The bot has been thoroughly tested and refined based on user feedback, making it a valuable tool for enhancing the independence and well-being of elderly individuals. Future improvements could include voice commands and additional integrations, further expanding its capabilities.</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endParaRPr lang="en-US" dirty="0"/>
          </a:p>
          <a:p>
            <a:r>
              <a:rPr lang="en-US" dirty="0"/>
              <a:t>Voice Command Integration</a:t>
            </a:r>
          </a:p>
          <a:p>
            <a:r>
              <a:rPr lang="en-US" dirty="0"/>
              <a:t>Integration with Wearable Devices</a:t>
            </a:r>
          </a:p>
          <a:p>
            <a:r>
              <a:rPr lang="en-US" dirty="0"/>
              <a:t>AI-Powered Health Reminders </a:t>
            </a:r>
          </a:p>
          <a:p>
            <a:r>
              <a:rPr lang="en-US" dirty="0"/>
              <a:t>Emergency Alert System</a:t>
            </a:r>
          </a:p>
          <a:p>
            <a:r>
              <a:rPr lang="en-US" dirty="0"/>
              <a:t>Multi-language Support</a:t>
            </a:r>
          </a:p>
          <a:p>
            <a:r>
              <a:rPr lang="en-US" dirty="0"/>
              <a:t>Medication Tracking and Refill Reminder</a:t>
            </a:r>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dirty="0">
                <a:hlinkClick r:id="rId4"/>
              </a:rPr>
              <a:t>https://ieeexplore.ieee.org/stamp/stamp.jsp?tp=&amp;arnumber=10047781&amp;isnumber=10046669</a:t>
            </a:r>
            <a:br>
              <a:rPr lang="en-US" dirty="0"/>
            </a:br>
            <a:endParaRPr lang="en-US" dirty="0"/>
          </a:p>
          <a:p>
            <a:r>
              <a:rPr lang="en-US" dirty="0">
                <a:hlinkClick r:id="rId5"/>
              </a:rPr>
              <a:t>https://ieeexplore.ieee.org/stamp/stamp.jsp?tp=&amp;arnumber=10691910&amp;isnumber=10691903</a:t>
            </a:r>
            <a:endParaRPr lang="en-US" dirty="0"/>
          </a:p>
          <a:p>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4" name="Rectangle 1">
            <a:extLst>
              <a:ext uri="{FF2B5EF4-FFF2-40B4-BE49-F238E27FC236}">
                <a16:creationId xmlns:a16="http://schemas.microsoft.com/office/drawing/2014/main" id="{97121109-C47F-1F25-2E7E-2346A5B1AE47}"/>
              </a:ext>
            </a:extLst>
          </p:cNvPr>
          <p:cNvSpPr>
            <a:spLocks noGrp="1" noChangeArrowheads="1"/>
          </p:cNvSpPr>
          <p:nvPr>
            <p:ph idx="1"/>
          </p:nvPr>
        </p:nvSpPr>
        <p:spPr bwMode="auto">
          <a:xfrm>
            <a:off x="575556" y="1224790"/>
            <a:ext cx="824491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AI-Powered Robotics for Elderly Care: Enhancing Assistance and Companionship</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Source: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AI-Powered Robotics for Elderly Care: Enhancing Assistance and Companionship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Robots for Elderly Care in the Home: A Landscape Analysis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Source: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Robots for Elderly Care in the Home: A Landscape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Robots for Elderly Care: Review, Multi-Criteria Optimization, and Future Directions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Source: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Robots for Elderly Care: Review, Multi-Criteria Optimization, and Future Directions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Exploring Human-Robot Interaction with the Elderly: Results from a Ten-Week Case Study in a Care Home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Source: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Exploring Human-Robot Interaction with the Elderly: Results from a Ten-Week Case Study in a Care Home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Mapping Emerging Technologies in Aged Care: Results from an In-Depth Study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Source: </a:t>
            </a:r>
            <a:r>
              <a:rPr kumimoji="0" lang="en-US" altLang="en-US" sz="1800" b="0" i="0" u="none" strike="noStrike" cap="none" normalizeH="0" baseline="0" dirty="0">
                <a:ln>
                  <a:noFill/>
                </a:ln>
                <a:solidFill>
                  <a:schemeClr val="tx1"/>
                </a:solidFill>
                <a:effectLst/>
                <a:latin typeface="Arial" panose="020B0604020202020204" pitchFamily="34" charset="0"/>
                <a:hlinkClick r:id="rId8"/>
              </a:rPr>
              <a:t>Mapping Emerging Technologies in Aged Care: Results from an In-Depth Study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9735</TotalTime>
  <Words>1223</Words>
  <Application>Microsoft Office PowerPoint</Application>
  <PresentationFormat>On-screen Show (4:3)</PresentationFormat>
  <Paragraphs>109</Paragraphs>
  <Slides>20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HelveticaNeue Regular</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Description-Module 1</vt:lpstr>
      <vt:lpstr>Functional Description-Module 2</vt:lpstr>
      <vt:lpstr>Table Design</vt:lpstr>
      <vt:lpstr>Process Design</vt:lpstr>
      <vt:lpstr>Implementation</vt:lpstr>
      <vt:lpstr>Testing</vt:lpstr>
      <vt:lpstr>Conclusions</vt:lpstr>
      <vt:lpstr>Future Enhancement</vt:lpstr>
      <vt:lpstr>IEEE Paper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ASHMITA</dc:creator>
  <cp:lastModifiedBy>ashmita ravindra</cp:lastModifiedBy>
  <cp:revision>1749</cp:revision>
  <dcterms:created xsi:type="dcterms:W3CDTF">2013-05-17T03:00:03Z</dcterms:created>
  <dcterms:modified xsi:type="dcterms:W3CDTF">2024-11-21T16:54:24Z</dcterms:modified>
</cp:coreProperties>
</file>